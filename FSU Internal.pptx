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  <p:sldMasterId id="2147483720" r:id="rId7"/>
    <p:sldMasterId id="2147483732" r:id="rId8"/>
    <p:sldMasterId id="2147483744" r:id="rId9"/>
  </p:sldMasterIdLst>
  <p:notesMasterIdLst>
    <p:notesMasterId r:id="rId29"/>
  </p:notesMasterIdLst>
  <p:sldIdLst>
    <p:sldId id="258" r:id="rId10"/>
    <p:sldId id="264" r:id="rId11"/>
    <p:sldId id="259" r:id="rId12"/>
    <p:sldId id="261" r:id="rId13"/>
    <p:sldId id="262" r:id="rId14"/>
    <p:sldId id="260" r:id="rId15"/>
    <p:sldId id="263" r:id="rId16"/>
    <p:sldId id="257" r:id="rId17"/>
    <p:sldId id="266" r:id="rId18"/>
    <p:sldId id="267" r:id="rId19"/>
    <p:sldId id="268" r:id="rId20"/>
    <p:sldId id="269" r:id="rId21"/>
    <p:sldId id="270" r:id="rId22"/>
    <p:sldId id="273" r:id="rId23"/>
    <p:sldId id="274" r:id="rId24"/>
    <p:sldId id="275" r:id="rId25"/>
    <p:sldId id="276" r:id="rId26"/>
    <p:sldId id="271" r:id="rId27"/>
    <p:sldId id="27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EAC929-D998-4CAF-BC34-CB6508FD3540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9000A-02AA-48AE-8E63-F43E6A55C32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1936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41203-ED57-4254-B887-66BDF38823E4}" type="slidenum">
              <a:rPr lang="en-PH" smtClean="0">
                <a:solidFill>
                  <a:prstClr val="black"/>
                </a:solidFill>
              </a:rPr>
              <a:pPr/>
              <a:t>3</a:t>
            </a:fld>
            <a:endParaRPr lang="en-PH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526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41203-ED57-4254-B887-66BDF38823E4}" type="slidenum">
              <a:rPr lang="en-PH" smtClean="0">
                <a:solidFill>
                  <a:prstClr val="black"/>
                </a:solidFill>
              </a:rPr>
              <a:pPr/>
              <a:t>4</a:t>
            </a:fld>
            <a:endParaRPr lang="en-PH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186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41203-ED57-4254-B887-66BDF38823E4}" type="slidenum">
              <a:rPr lang="en-PH" smtClean="0">
                <a:solidFill>
                  <a:prstClr val="black"/>
                </a:solidFill>
              </a:rPr>
              <a:pPr/>
              <a:t>5</a:t>
            </a:fld>
            <a:endParaRPr lang="en-PH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7325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F41203-ED57-4254-B887-66BDF38823E4}" type="slidenum">
              <a:rPr lang="en-PH" smtClean="0">
                <a:solidFill>
                  <a:prstClr val="black"/>
                </a:solidFill>
              </a:rPr>
              <a:pPr/>
              <a:t>9</a:t>
            </a:fld>
            <a:endParaRPr lang="en-PH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730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314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58136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4772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9767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16587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7229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39079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404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48830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2871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9835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5516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543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4590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963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8618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9663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8387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9977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7174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85924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407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158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786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5713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2603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88247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8651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09403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588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1192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5356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6177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753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8630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379331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3839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213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3204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3022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1792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476394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4127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10721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8643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27451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6835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3306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17728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65175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372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1983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99991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43873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189271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4278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3630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72684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5286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6535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7849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878821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6676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9174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26099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6813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96956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62347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89003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36849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00802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6850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0989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45478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01159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728693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066040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360914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6844547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98470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74776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8790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48042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39821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12132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747038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986603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017667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34571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13213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48910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56388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303280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546692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463496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8866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171734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97990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492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7A3BB-E8E2-47FB-AAA4-99EE0727A8EA}" type="datetimeFigureOut">
              <a:rPr lang="en-PH" smtClean="0"/>
              <a:t>9/23/2026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180CE-75F7-4821-BADE-C5D41438B510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7948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349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95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261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701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127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63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41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9/23/2026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80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f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5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5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699347"/>
            <a:ext cx="7264400" cy="5486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72400" y="177800"/>
            <a:ext cx="4114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 In </a:t>
            </a:r>
            <a:r>
              <a:rPr lang="en-PH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r>
              <a:rPr lang="en-PH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Access Restriction  </a:t>
            </a:r>
            <a:endParaRPr lang="en-PH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7772400" y="939800"/>
          <a:ext cx="4114800" cy="27770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3200"/>
                <a:gridCol w="1371600"/>
                <a:gridCol w="1270000"/>
              </a:tblGrid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Name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Designation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Access Restriction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PCOL </a:t>
                      </a:r>
                      <a:r>
                        <a:rPr lang="en-US" sz="800" dirty="0" err="1" smtClean="0">
                          <a:latin typeface="Arial Narrow" panose="020B0606020202030204" pitchFamily="34" charset="0"/>
                        </a:rPr>
                        <a:t>Reyman</a:t>
                      </a: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 G </a:t>
                      </a:r>
                      <a:r>
                        <a:rPr lang="en-US" sz="800" dirty="0" err="1" smtClean="0">
                          <a:latin typeface="Arial Narrow" panose="020B0606020202030204" pitchFamily="34" charset="0"/>
                        </a:rPr>
                        <a:t>Tolentin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Chief, FSU PNPA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ALL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Access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PLTCOL Sheryl O </a:t>
                      </a:r>
                      <a:r>
                        <a:rPr lang="en-US" sz="800" dirty="0" err="1" smtClean="0">
                          <a:latin typeface="Arial Narrow" panose="020B0606020202030204" pitchFamily="34" charset="0"/>
                        </a:rPr>
                        <a:t>Macarangal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Assistant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Chief, FSU PNPA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ADMINISTRATOR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PEMS Carol Joyce A Panganiban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Chief Clerk / Admin PNCO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ADMINISTRATOR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PSMS </a:t>
                      </a:r>
                      <a:r>
                        <a:rPr lang="en-US" sz="800" dirty="0" err="1" smtClean="0">
                          <a:latin typeface="Arial Narrow" panose="020B0606020202030204" pitchFamily="34" charset="0"/>
                        </a:rPr>
                        <a:t>Rufino</a:t>
                      </a: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 C Mateo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PAS / Training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PNCO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CO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– </a:t>
                      </a: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ADMIN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PSMS Abigail G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Gonzales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MDS / Finance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PNCO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ALL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Access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PSMS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Alexis E Madarang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Asst. MDS / Bookkeeper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CO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– </a:t>
                      </a: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ADMIN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PMSg Marlon  P Legion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Logistics PNCO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VIEWER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PMSg </a:t>
                      </a:r>
                      <a:r>
                        <a:rPr lang="en-US" sz="800" dirty="0" err="1" smtClean="0">
                          <a:latin typeface="Arial Narrow" panose="020B0606020202030204" pitchFamily="34" charset="0"/>
                        </a:rPr>
                        <a:t>Claimar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Q </a:t>
                      </a:r>
                      <a:r>
                        <a:rPr lang="en-US" sz="800" baseline="0" dirty="0" err="1" smtClean="0">
                          <a:latin typeface="Arial Narrow" panose="020B0606020202030204" pitchFamily="34" charset="0"/>
                        </a:rPr>
                        <a:t>Dacumos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Asst. Admin PNCO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CO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– </a:t>
                      </a: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ADMIN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PSSg </a:t>
                      </a:r>
                      <a:r>
                        <a:rPr lang="en-US" sz="800" dirty="0" err="1" smtClean="0">
                          <a:latin typeface="Arial Narrow" panose="020B0606020202030204" pitchFamily="34" charset="0"/>
                        </a:rPr>
                        <a:t>Vien</a:t>
                      </a: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 Lionel Pelayo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Asst. PAS / </a:t>
                      </a:r>
                    </a:p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Supply 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CO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– </a:t>
                      </a: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ADMIN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  <a:tr h="247227"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NUP Lyka L Retaga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Collecting NUP</a:t>
                      </a:r>
                      <a:endParaRPr lang="en-PH" sz="800" dirty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CO</a:t>
                      </a:r>
                      <a:r>
                        <a:rPr lang="en-US" sz="800" baseline="0" dirty="0" smtClean="0">
                          <a:latin typeface="Arial Narrow" panose="020B0606020202030204" pitchFamily="34" charset="0"/>
                        </a:rPr>
                        <a:t> – </a:t>
                      </a:r>
                      <a:r>
                        <a:rPr lang="en-US" sz="800" dirty="0" smtClean="0">
                          <a:latin typeface="Arial Narrow" panose="020B0606020202030204" pitchFamily="34" charset="0"/>
                        </a:rPr>
                        <a:t>ADMINI</a:t>
                      </a:r>
                      <a:endParaRPr lang="en-PH" sz="800" dirty="0" smtClean="0">
                        <a:latin typeface="Arial Narrow" panose="020B0606020202030204" pitchFamily="34" charset="0"/>
                      </a:endParaRPr>
                    </a:p>
                  </a:txBody>
                  <a:tcPr marL="60960" marR="60960" marT="30480" marB="30480" anchor="ctr"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5156200"/>
            <a:ext cx="4114800" cy="1117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</a:p>
          <a:p>
            <a:pPr algn="ctr"/>
            <a:endParaRPr lang="en-US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Pagdating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ating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Restrictions (kung </a:t>
            </a:r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ikaw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ay collection staff, </a:t>
            </a:r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COLLECTION COLUMN </a:t>
            </a:r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ma-access, the same </a:t>
            </a:r>
            <a:r>
              <a:rPr lang="en-US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other officers or staff)</a:t>
            </a:r>
            <a:endParaRPr lang="en-PH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8616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0" y="5299166"/>
            <a:ext cx="609600" cy="609600"/>
          </a:xfrm>
          <a:prstGeom prst="flowChartConnector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0" y="5277394"/>
            <a:ext cx="609600" cy="609600"/>
          </a:xfrm>
          <a:prstGeom prst="flowChartConnector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5288280"/>
            <a:ext cx="609600" cy="609600"/>
          </a:xfrm>
          <a:prstGeom prst="flowChartConnector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5266508"/>
            <a:ext cx="609600" cy="609600"/>
          </a:xfrm>
          <a:prstGeom prst="flowChartConnector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49800" y="5257800"/>
            <a:ext cx="2692400" cy="660400"/>
          </a:xfrm>
          <a:prstGeom prst="roundRect">
            <a:avLst/>
          </a:prstGeom>
          <a:solidFill>
            <a:srgbClr val="FF0000">
              <a:alpha val="87000"/>
            </a:srgbClr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67" dirty="0">
                <a:solidFill>
                  <a:prstClr val="white"/>
                </a:solidFill>
                <a:latin typeface="Arial Rounded MT Bold" panose="020F0704030504030204" pitchFamily="34" charset="0"/>
              </a:rPr>
              <a:t>I UNDERSTAND</a:t>
            </a:r>
            <a:endParaRPr lang="en-PH" sz="1867" dirty="0">
              <a:solidFill>
                <a:prstClr val="white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800" y="143933"/>
            <a:ext cx="7518400" cy="50122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6401" y="6121400"/>
            <a:ext cx="11122297" cy="707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Logging In,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Landing Page FOR SHORT SYSTEM REMINDER – THEN AFTER CLICKING (I UNDERSTAND BUTTON) LALABAS NA PO (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modules from Admin to </a:t>
            </a:r>
            <a:r>
              <a:rPr lang="en-PH" sz="1333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Collection) 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bawat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modules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limitado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access. (To follow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UPDATED RESTRICTION ACCESS Lists ng Admin, Co – Admin, and Viewers)</a:t>
            </a:r>
            <a:endParaRPr lang="en-PH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86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9506857" y="14985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23760" y="14985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 &amp; Allowances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56627" y="14985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Remittance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81513" y="1498600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Disbursement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6400" y="1498600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PH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Administrator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6400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1515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56629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31744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06857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20" name="Rectangle 19"/>
          <p:cNvSpPr/>
          <p:nvPr/>
        </p:nvSpPr>
        <p:spPr>
          <a:xfrm>
            <a:off x="9708606" y="2542724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 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8149" y="2574499"/>
            <a:ext cx="1618343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Followed Requirements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3262" y="2542723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Maam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Abi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56634" y="2542724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33493" y="2532464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221243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406400" y="1498600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PH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Administrator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6400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1515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56629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31744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06857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06401" y="6413460"/>
            <a:ext cx="11122297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CLICKING I UNDERSTAND, </a:t>
            </a:r>
            <a:r>
              <a:rPr lang="en-PH" sz="1333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PH" sz="1333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PH" sz="1333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Landing Page.</a:t>
            </a:r>
            <a:endParaRPr lang="en-PH" sz="1333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8149" y="2574499"/>
            <a:ext cx="1618343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Followed Requirements </a:t>
            </a:r>
          </a:p>
        </p:txBody>
      </p:sp>
    </p:spTree>
    <p:extLst>
      <p:ext uri="{BB962C8B-B14F-4D97-AF65-F5344CB8AC3E}">
        <p14:creationId xmlns:p14="http://schemas.microsoft.com/office/powerpoint/2010/main" val="1405490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681513" y="1498600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Disbursement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6400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1515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56629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31744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06857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2883262" y="2542723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Maam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Abi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06401" y="6413460"/>
            <a:ext cx="11122297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Correct sample kung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siya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ay nag log in as Disbursement,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yun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ma-access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niya</a:t>
            </a:r>
            <a:r>
              <a:rPr lang="en-PH" sz="1333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PH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27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06401" y="6477000"/>
            <a:ext cx="11122297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>
                <a:latin typeface="Arial" panose="020B0604020202020204" pitchFamily="34" charset="0"/>
                <a:cs typeface="Arial" panose="020B0604020202020204" pitchFamily="34" charset="0"/>
              </a:rPr>
              <a:t>Under </a:t>
            </a:r>
            <a:r>
              <a:rPr lang="en-PH" sz="1333" dirty="0" err="1">
                <a:latin typeface="Arial" panose="020B0604020202020204" pitchFamily="34" charset="0"/>
                <a:cs typeface="Arial" panose="020B0604020202020204" pitchFamily="34" charset="0"/>
              </a:rPr>
              <a:t>ni</a:t>
            </a:r>
            <a:r>
              <a:rPr lang="en-PH" sz="1333" dirty="0">
                <a:latin typeface="Arial" panose="020B0604020202020204" pitchFamily="34" charset="0"/>
                <a:cs typeface="Arial" panose="020B0604020202020204" pitchFamily="34" charset="0"/>
              </a:rPr>
              <a:t> Disbursement, </a:t>
            </a:r>
            <a:r>
              <a:rPr lang="en-PH" sz="1333" dirty="0" err="1"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PH" sz="13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latin typeface="Arial" panose="020B0604020202020204" pitchFamily="34" charset="0"/>
                <a:cs typeface="Arial" panose="020B0604020202020204" pitchFamily="34" charset="0"/>
              </a:rPr>
              <a:t> Layout and 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Requirements (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nasa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picture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sample landing page – printed copy)</a:t>
            </a:r>
            <a:endParaRPr lang="en-PH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1258010" y="1742484"/>
            <a:ext cx="9675982" cy="4632917"/>
            <a:chOff x="457198" y="2613726"/>
            <a:chExt cx="14513973" cy="6949375"/>
          </a:xfrm>
        </p:grpSpPr>
        <p:sp>
          <p:nvSpPr>
            <p:cNvPr id="15" name="Rectangle 14"/>
            <p:cNvSpPr/>
            <p:nvPr/>
          </p:nvSpPr>
          <p:spPr>
            <a:xfrm>
              <a:off x="457198" y="2628900"/>
              <a:ext cx="3495618" cy="55399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Personnel Services</a:t>
              </a:r>
              <a:endParaRPr lang="en-PH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Rectangle 2"/>
            <p:cNvSpPr/>
            <p:nvPr/>
          </p:nvSpPr>
          <p:spPr>
            <a:xfrm>
              <a:off x="457200" y="2628901"/>
              <a:ext cx="3495616" cy="693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8316" y="3256534"/>
              <a:ext cx="3093382" cy="6186764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>
            <a:xfrm>
              <a:off x="4129983" y="2623842"/>
              <a:ext cx="3495618" cy="55399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MOOE</a:t>
              </a:r>
              <a:endParaRPr lang="en-PH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4129985" y="2623843"/>
              <a:ext cx="3495616" cy="693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802769" y="2618784"/>
              <a:ext cx="3495618" cy="55399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Capital Outlay</a:t>
              </a:r>
              <a:endParaRPr lang="en-PH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Rectangle 26"/>
            <p:cNvSpPr/>
            <p:nvPr/>
          </p:nvSpPr>
          <p:spPr>
            <a:xfrm>
              <a:off x="7802770" y="2618785"/>
              <a:ext cx="3495616" cy="693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11475553" y="2613726"/>
              <a:ext cx="3495618" cy="553998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Trust Receipt</a:t>
              </a:r>
              <a:endParaRPr lang="en-PH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475555" y="2613727"/>
              <a:ext cx="3495616" cy="69342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2635211" y="1231540"/>
            <a:ext cx="6661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Modified Disbursement System</a:t>
            </a:r>
            <a:endParaRPr lang="en-PH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5"/>
          <a:srcRect b="35081"/>
          <a:stretch/>
        </p:blipFill>
        <p:spPr>
          <a:xfrm>
            <a:off x="3812486" y="2177045"/>
            <a:ext cx="2118506" cy="170915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2162061"/>
            <a:ext cx="1919115" cy="4086507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7309" y="2158901"/>
            <a:ext cx="1919115" cy="4014148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 rotWithShape="1">
          <a:blip r:embed="rId5"/>
          <a:srcRect t="69034"/>
          <a:stretch/>
        </p:blipFill>
        <p:spPr>
          <a:xfrm>
            <a:off x="3811696" y="3886200"/>
            <a:ext cx="2118506" cy="81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82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6" t="5118" r="23560" b="10976"/>
          <a:stretch/>
        </p:blipFill>
        <p:spPr>
          <a:xfrm>
            <a:off x="914400" y="57150"/>
            <a:ext cx="10325100" cy="672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540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2" t="10479" r="10359" b="31410"/>
          <a:stretch/>
        </p:blipFill>
        <p:spPr>
          <a:xfrm rot="16200000">
            <a:off x="1276117" y="-971318"/>
            <a:ext cx="6557475" cy="8816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30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9506857" y="14985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23760" y="14985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 &amp; Allowances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956627" y="14985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Remittance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681513" y="1498600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Disbursement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6400" y="1498600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PH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Administrator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6400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81515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956629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31744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506857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06401" y="6413460"/>
            <a:ext cx="11122297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Next is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Remittance column</a:t>
            </a:r>
            <a:endParaRPr lang="en-PH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708606" y="2542724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 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8149" y="2574499"/>
            <a:ext cx="1618343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Followed Requirements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3262" y="2542723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Maam</a:t>
            </a:r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Abi</a:t>
            </a:r>
            <a:endParaRPr lang="en-US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156634" y="2542724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33493" y="2532464"/>
            <a:ext cx="1618343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Done</a:t>
            </a:r>
          </a:p>
        </p:txBody>
      </p:sp>
    </p:spTree>
    <p:extLst>
      <p:ext uri="{BB962C8B-B14F-4D97-AF65-F5344CB8AC3E}">
        <p14:creationId xmlns:p14="http://schemas.microsoft.com/office/powerpoint/2010/main" val="19946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4990" y="1662426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REMITTANCE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2974" y="1662427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3306" y="2311400"/>
            <a:ext cx="1361177" cy="2565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 IBIG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03306" y="2847524"/>
            <a:ext cx="1361177" cy="2565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PHILHEALTH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494789" y="1661699"/>
            <a:ext cx="9138411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608701" y="1842323"/>
            <a:ext cx="3774735" cy="3656921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ln w="3810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899009" y="5105400"/>
            <a:ext cx="1194119" cy="2565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File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8151429" y="5866733"/>
            <a:ext cx="2689279" cy="256545"/>
            <a:chOff x="9823111" y="9225094"/>
            <a:chExt cx="4033919" cy="384818"/>
          </a:xfrm>
        </p:grpSpPr>
        <p:sp>
          <p:nvSpPr>
            <p:cNvPr id="23" name="Rectangle 22"/>
            <p:cNvSpPr/>
            <p:nvPr/>
          </p:nvSpPr>
          <p:spPr>
            <a:xfrm>
              <a:off x="9823111" y="9225094"/>
              <a:ext cx="1791179" cy="384818"/>
            </a:xfrm>
            <a:prstGeom prst="rect">
              <a:avLst/>
            </a:prstGeom>
            <a:solidFill>
              <a:srgbClr val="6699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67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UPLOAD</a:t>
              </a:r>
              <a:endParaRPr lang="en-PH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12065851" y="9225094"/>
              <a:ext cx="1791179" cy="3848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67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DISCARD</a:t>
              </a:r>
              <a:endParaRPr lang="en-PH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5" name="Rectangle 24"/>
          <p:cNvSpPr/>
          <p:nvPr/>
        </p:nvSpPr>
        <p:spPr>
          <a:xfrm>
            <a:off x="2717161" y="1865879"/>
            <a:ext cx="4699639" cy="4226564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ln w="3810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0" y="2257655"/>
            <a:ext cx="1700655" cy="42075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Filtered </a:t>
            </a:r>
          </a:p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(Dropdown)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0" y="1940624"/>
            <a:ext cx="1700655" cy="4207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Successfully Uploaded!</a:t>
            </a:r>
            <a:endParaRPr lang="en-PH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35621" y="2257655"/>
            <a:ext cx="2328431" cy="25654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Uploaded Files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835621" y="2537103"/>
            <a:ext cx="2328431" cy="344248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913824" y="2704254"/>
            <a:ext cx="2166177" cy="4207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 uploading of files</a:t>
            </a:r>
          </a:p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(Ascending Order)</a:t>
            </a:r>
            <a:endParaRPr lang="en-PH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6401" y="6413460"/>
            <a:ext cx="11122297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Ito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 smtClean="0"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 smtClean="0">
                <a:latin typeface="Arial" panose="020B0604020202020204" pitchFamily="34" charset="0"/>
                <a:cs typeface="Arial" panose="020B0604020202020204" pitchFamily="34" charset="0"/>
              </a:rPr>
              <a:t> last wireframe bro ng Remittance column (next is the Pay &amp; Allowances)</a:t>
            </a:r>
            <a:endParaRPr lang="en-PH" sz="1333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664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416" y="18541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 &amp; Allowances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400" y="18542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40001" y="1854200"/>
            <a:ext cx="9138411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2946400" y="3266117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9908" y="4123210"/>
            <a:ext cx="143176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READMITTED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386679" y="2242730"/>
            <a:ext cx="2085135" cy="189866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Follow COMPUTATION</a:t>
            </a: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FOLLOW REQUIREMENTS</a:t>
            </a: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 IN LANDING THE (FILTERED FILE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PH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37943" y="2706546"/>
            <a:ext cx="1422923" cy="2565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File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958621" y="2706546"/>
            <a:ext cx="1440471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Filtered</a:t>
            </a:r>
            <a:endParaRPr lang="en-US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48330" y="3097873"/>
            <a:ext cx="1664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**Stored 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PDF 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1199" y="3657183"/>
            <a:ext cx="1440471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TURNBACK</a:t>
            </a:r>
            <a:endParaRPr lang="en-US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07510" y="2056203"/>
            <a:ext cx="6469669" cy="42784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2946400" y="36096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946400" y="39144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946400" y="42700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962366" y="46256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958621" y="496927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66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416" y="18541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 &amp; Allowances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400" y="18542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40001" y="1854200"/>
            <a:ext cx="9138411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2946400" y="3266117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19908" y="4123210"/>
            <a:ext cx="143176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READMITTED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86679" y="2242730"/>
            <a:ext cx="2085135" cy="25555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Follow COMPUTATION</a:t>
            </a:r>
          </a:p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COMPUTATION</a:t>
            </a:r>
          </a:p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days of duty </a:t>
            </a:r>
          </a:p>
          <a:p>
            <a:pPr algn="ctr"/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Ibawas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kung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ilang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araw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pinasok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ng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pumasok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sahod</a:t>
            </a:r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 IN LANDING THE (FILTERED FILE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PH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37943" y="2706546"/>
            <a:ext cx="1422923" cy="2565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File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58621" y="2706546"/>
            <a:ext cx="1440471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Filtered</a:t>
            </a:r>
            <a:endParaRPr lang="en-US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48330" y="3097873"/>
            <a:ext cx="1664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**Stored 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PDF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2033529"/>
            <a:ext cx="1440471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TURNBACK</a:t>
            </a:r>
            <a:endParaRPr lang="en-US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10412" y="2376178"/>
            <a:ext cx="6469669" cy="384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46400" y="36096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946400" y="39144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946400" y="42700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62366" y="46256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958621" y="496927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337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8416" y="18541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 &amp; Allowances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400" y="18542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540001" y="1854200"/>
            <a:ext cx="9138411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0" name="Rectangle 9"/>
          <p:cNvSpPr/>
          <p:nvPr/>
        </p:nvSpPr>
        <p:spPr>
          <a:xfrm>
            <a:off x="2946400" y="3266117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775200" y="2017027"/>
            <a:ext cx="143176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RE-ADMITTED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86679" y="2242729"/>
            <a:ext cx="2085135" cy="23912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COMPUTATION</a:t>
            </a:r>
          </a:p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days of duty </a:t>
            </a:r>
          </a:p>
          <a:p>
            <a:pPr algn="ctr"/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Ibawas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kung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ilang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araw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pinasok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total ng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pumasok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067" b="1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sahod</a:t>
            </a:r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  IN LANDING THE (FILTERED FILE</a:t>
            </a:r>
            <a:r>
              <a:rPr lang="en-US" sz="1067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/>
            <a:endParaRPr lang="en-US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PH" sz="1067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37943" y="2706546"/>
            <a:ext cx="1422923" cy="2565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Upload File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58621" y="2706546"/>
            <a:ext cx="1440471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 Filtered</a:t>
            </a:r>
            <a:endParaRPr lang="en-US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248330" y="3097873"/>
            <a:ext cx="1664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**Stored </a:t>
            </a:r>
            <a:r>
              <a:rPr lang="en-US" sz="12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PDF 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2395" y="3688795"/>
            <a:ext cx="1440471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TURNBACK</a:t>
            </a:r>
            <a:endParaRPr lang="en-US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10412" y="2376178"/>
            <a:ext cx="6469669" cy="38468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946400" y="36096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946400" y="39144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946400" y="42700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962366" y="462569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958621" y="4969278"/>
            <a:ext cx="3780232" cy="25654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PAYSLIP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90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7223760" y="1498599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231744" y="1498600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06401" y="6273800"/>
            <a:ext cx="11122297" cy="502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 Logging In,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Landing Page (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 modules from Admin to Collection) then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bawat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modules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limitado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access. (To follow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UPDATED RESTRICTION ACCESS Lists ng Admin, Co – Admin, and Viewers)</a:t>
            </a:r>
            <a:endParaRPr lang="en-PH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479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06401" y="6477000"/>
            <a:ext cx="11122297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COLLECTION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Layout and Requirements,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CLICK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 TRANSACTIONS BUTTON,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Landing page </a:t>
            </a:r>
            <a:r>
              <a:rPr lang="en-PH" sz="1333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niya</a:t>
            </a:r>
            <a:r>
              <a:rPr lang="en-PH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PH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35211" y="1231540"/>
            <a:ext cx="6661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 System</a:t>
            </a:r>
            <a:endParaRPr lang="en-PH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4990" y="1662426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72974" y="1662427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03306" y="2311400"/>
            <a:ext cx="1361177" cy="2565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3306" y="2847524"/>
            <a:ext cx="1361177" cy="2565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REPORTS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079" y="1854201"/>
            <a:ext cx="7703164" cy="420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2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/>
          <p:cNvSpPr/>
          <p:nvPr/>
        </p:nvSpPr>
        <p:spPr>
          <a:xfrm>
            <a:off x="406400" y="1059543"/>
            <a:ext cx="11531600" cy="5569857"/>
          </a:xfrm>
          <a:prstGeom prst="rect">
            <a:avLst/>
          </a:prstGeom>
          <a:solidFill>
            <a:schemeClr val="bg1"/>
          </a:solidFill>
          <a:ln w="9525">
            <a:solidFill>
              <a:srgbClr val="042F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6400" y="330200"/>
            <a:ext cx="11531600" cy="812800"/>
          </a:xfrm>
          <a:prstGeom prst="rect">
            <a:avLst/>
          </a:prstGeom>
          <a:solidFill>
            <a:srgbClr val="042F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24" y="377974"/>
            <a:ext cx="522676" cy="7172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16000" y="651550"/>
            <a:ext cx="3983962" cy="420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2133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FINANCE SERVICE UNIT 18</a:t>
            </a:r>
            <a:endParaRPr lang="en-PH" sz="2133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16001" y="457696"/>
            <a:ext cx="2880924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PH" sz="1333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Philippine National Police Academy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657" y="378600"/>
            <a:ext cx="680943" cy="680943"/>
          </a:xfrm>
          <a:prstGeom prst="flowChartConnector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34000" y="585702"/>
            <a:ext cx="410250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PH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 SECTION – TRANSACTION ENTRY</a:t>
            </a:r>
            <a:endParaRPr lang="en-PH" sz="12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18301" t="14379" r="59477" b="66014"/>
          <a:stretch/>
        </p:blipFill>
        <p:spPr>
          <a:xfrm>
            <a:off x="10308505" y="610059"/>
            <a:ext cx="320495" cy="28278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56208" t="11764" r="17648" b="63400"/>
          <a:stretch/>
        </p:blipFill>
        <p:spPr>
          <a:xfrm>
            <a:off x="10722733" y="610652"/>
            <a:ext cx="321287" cy="30522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>
            <a:lum bright="70000" contrast="-70000"/>
          </a:blip>
          <a:srcRect l="56396" t="52380" r="17460" b="21570"/>
          <a:stretch/>
        </p:blipFill>
        <p:spPr>
          <a:xfrm>
            <a:off x="11531600" y="585701"/>
            <a:ext cx="306317" cy="30522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4">
            <a:lum bright="70000" contrast="-70000"/>
          </a:blip>
          <a:srcRect l="15686" t="52380" r="56751" b="21570"/>
          <a:stretch/>
        </p:blipFill>
        <p:spPr>
          <a:xfrm>
            <a:off x="11123845" y="591066"/>
            <a:ext cx="327930" cy="309934"/>
          </a:xfrm>
          <a:prstGeom prst="rect">
            <a:avLst/>
          </a:prstGeom>
        </p:spPr>
      </p:pic>
      <p:grpSp>
        <p:nvGrpSpPr>
          <p:cNvPr id="45" name="Group 44"/>
          <p:cNvGrpSpPr/>
          <p:nvPr/>
        </p:nvGrpSpPr>
        <p:grpSpPr>
          <a:xfrm>
            <a:off x="911183" y="4140200"/>
            <a:ext cx="2641600" cy="1320800"/>
            <a:chOff x="685799" y="5524500"/>
            <a:chExt cx="3962399" cy="1981200"/>
          </a:xfrm>
        </p:grpSpPr>
        <p:sp>
          <p:nvSpPr>
            <p:cNvPr id="21" name="Rounded Rectangle 20"/>
            <p:cNvSpPr/>
            <p:nvPr/>
          </p:nvSpPr>
          <p:spPr>
            <a:xfrm>
              <a:off x="685800" y="5524500"/>
              <a:ext cx="3810000" cy="501831"/>
            </a:xfrm>
            <a:prstGeom prst="roundRect">
              <a:avLst>
                <a:gd name="adj" fmla="val 16108"/>
              </a:avLst>
            </a:prstGeom>
            <a:solidFill>
              <a:srgbClr val="3122F6"/>
            </a:solidFill>
            <a:ln w="6350">
              <a:solidFill>
                <a:srgbClr val="042F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685800" y="5524500"/>
              <a:ext cx="3810000" cy="1981200"/>
            </a:xfrm>
            <a:prstGeom prst="roundRect">
              <a:avLst>
                <a:gd name="adj" fmla="val 5696"/>
              </a:avLst>
            </a:prstGeom>
            <a:noFill/>
            <a:ln>
              <a:solidFill>
                <a:srgbClr val="042F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85799" y="5612369"/>
              <a:ext cx="3810001" cy="415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H" sz="1200" b="1" spc="200" dirty="0">
                  <a:solidFill>
                    <a:prstClr val="white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GENERAL FUND</a:t>
              </a:r>
              <a:endParaRPr lang="en-PH" sz="1200" b="1" spc="200" dirty="0">
                <a:solidFill>
                  <a:prstClr val="white"/>
                </a:solidFill>
                <a:latin typeface="Arial Rounded MT Bold" panose="020F07040305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lowchart: Connector 28"/>
            <p:cNvSpPr/>
            <p:nvPr/>
          </p:nvSpPr>
          <p:spPr>
            <a:xfrm>
              <a:off x="838200" y="6314322"/>
              <a:ext cx="182880" cy="182880"/>
            </a:xfrm>
            <a:prstGeom prst="flowChartConnector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30" name="Flowchart: Connector 29"/>
            <p:cNvSpPr/>
            <p:nvPr/>
          </p:nvSpPr>
          <p:spPr>
            <a:xfrm>
              <a:off x="838200" y="6722956"/>
              <a:ext cx="182880" cy="182880"/>
            </a:xfrm>
            <a:prstGeom prst="flowChartConnector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31" name="Flowchart: Connector 30"/>
            <p:cNvSpPr/>
            <p:nvPr/>
          </p:nvSpPr>
          <p:spPr>
            <a:xfrm>
              <a:off x="838200" y="7131590"/>
              <a:ext cx="182880" cy="182880"/>
            </a:xfrm>
            <a:prstGeom prst="flowChartConnector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1051560" y="6230252"/>
              <a:ext cx="2758440" cy="415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OVERPAYMENT</a:t>
              </a:r>
              <a:endParaRPr lang="en-PH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1051560" y="6628937"/>
              <a:ext cx="3474720" cy="415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BEYOND ECONOMIC REPAIR</a:t>
              </a:r>
              <a:endParaRPr lang="en-PH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051557" y="7060170"/>
              <a:ext cx="3596641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FIREARMS ACCOUNTABILITY</a:t>
              </a:r>
              <a:endParaRPr lang="en-PH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911184" y="2321802"/>
            <a:ext cx="2540001" cy="1320800"/>
            <a:chOff x="685800" y="2796903"/>
            <a:chExt cx="3810001" cy="1981200"/>
          </a:xfrm>
        </p:grpSpPr>
        <p:sp>
          <p:nvSpPr>
            <p:cNvPr id="19" name="Rounded Rectangle 18"/>
            <p:cNvSpPr/>
            <p:nvPr/>
          </p:nvSpPr>
          <p:spPr>
            <a:xfrm>
              <a:off x="685801" y="2796903"/>
              <a:ext cx="3810000" cy="501831"/>
            </a:xfrm>
            <a:prstGeom prst="roundRect">
              <a:avLst>
                <a:gd name="adj" fmla="val 16108"/>
              </a:avLst>
            </a:prstGeom>
            <a:solidFill>
              <a:srgbClr val="3122F6"/>
            </a:solidFill>
            <a:ln w="6350">
              <a:solidFill>
                <a:srgbClr val="042F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685801" y="2796903"/>
              <a:ext cx="3810000" cy="1981200"/>
            </a:xfrm>
            <a:prstGeom prst="roundRect">
              <a:avLst>
                <a:gd name="adj" fmla="val 5696"/>
              </a:avLst>
            </a:prstGeom>
            <a:noFill/>
            <a:ln>
              <a:solidFill>
                <a:srgbClr val="042F5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85800" y="2884772"/>
              <a:ext cx="3810001" cy="415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PH" sz="1200" b="1" spc="200" dirty="0">
                  <a:solidFill>
                    <a:prstClr val="white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rPr>
                <a:t>TRUST RECEIPT</a:t>
              </a:r>
              <a:endParaRPr lang="en-PH" sz="1200" b="1" spc="200" dirty="0">
                <a:solidFill>
                  <a:prstClr val="white"/>
                </a:solidFill>
                <a:latin typeface="Arial Rounded MT Bold" panose="020F07040305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" name="Flowchart: Connector 2"/>
            <p:cNvSpPr/>
            <p:nvPr/>
          </p:nvSpPr>
          <p:spPr>
            <a:xfrm>
              <a:off x="838200" y="3571122"/>
              <a:ext cx="182880" cy="182880"/>
            </a:xfrm>
            <a:prstGeom prst="flowChartConnector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27" name="Flowchart: Connector 26"/>
            <p:cNvSpPr/>
            <p:nvPr/>
          </p:nvSpPr>
          <p:spPr>
            <a:xfrm>
              <a:off x="838200" y="3979756"/>
              <a:ext cx="182880" cy="182880"/>
            </a:xfrm>
            <a:prstGeom prst="flowChartConnector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28" name="Flowchart: Connector 27"/>
            <p:cNvSpPr/>
            <p:nvPr/>
          </p:nvSpPr>
          <p:spPr>
            <a:xfrm>
              <a:off x="838200" y="4388390"/>
              <a:ext cx="182880" cy="182880"/>
            </a:xfrm>
            <a:prstGeom prst="flowChartConnector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sz="1200">
                <a:solidFill>
                  <a:prstClr val="white"/>
                </a:solidFill>
              </a:endParaRP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1021080" y="3476111"/>
              <a:ext cx="2758440" cy="415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LIGHT</a:t>
              </a:r>
              <a:endParaRPr lang="en-PH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021080" y="3874794"/>
              <a:ext cx="2758440" cy="415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WATER</a:t>
              </a:r>
              <a:endParaRPr lang="en-PH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021078" y="4306026"/>
              <a:ext cx="3227131" cy="4154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BIDDING DOCUMENTS</a:t>
              </a:r>
              <a:endParaRPr lang="en-PH" sz="12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6"/>
            <a:srcRect l="11170" t="8770" r="11169" b="8768"/>
            <a:stretch/>
          </p:blipFill>
          <p:spPr>
            <a:xfrm>
              <a:off x="853440" y="3591169"/>
              <a:ext cx="152400" cy="152400"/>
            </a:xfrm>
            <a:prstGeom prst="flowChartConnector">
              <a:avLst/>
            </a:prstGeom>
          </p:spPr>
        </p:pic>
      </p:grpSp>
      <p:sp>
        <p:nvSpPr>
          <p:cNvPr id="43" name="Rectangle 42"/>
          <p:cNvSpPr/>
          <p:nvPr/>
        </p:nvSpPr>
        <p:spPr>
          <a:xfrm>
            <a:off x="911183" y="1660906"/>
            <a:ext cx="3682316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Account Type Selection</a:t>
            </a:r>
            <a:endParaRPr lang="en-PH" sz="18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334000" y="1662001"/>
            <a:ext cx="3892409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 Details </a:t>
            </a:r>
            <a:endParaRPr lang="en-PH" sz="18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334000" y="2165316"/>
            <a:ext cx="1214741" cy="2974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Payor Name:</a:t>
            </a:r>
            <a:endParaRPr lang="en-PH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604000" y="2165316"/>
            <a:ext cx="3611036" cy="26674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334001" y="2571208"/>
            <a:ext cx="1676399" cy="50257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 of Transaction:</a:t>
            </a:r>
            <a:endParaRPr lang="en-PH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7056964" y="2571208"/>
            <a:ext cx="3158072" cy="26674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pic>
        <p:nvPicPr>
          <p:cNvPr id="1026" name="Picture 2" descr="Simple Flat Calendar Black Icon Graphic Symbol Shape Sign 78528696 Vector  Art at Vecteezy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3" t="20646" r="22483" b="20646"/>
          <a:stretch/>
        </p:blipFill>
        <p:spPr bwMode="auto">
          <a:xfrm>
            <a:off x="9956800" y="2591817"/>
            <a:ext cx="203200" cy="216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51"/>
          <p:cNvSpPr/>
          <p:nvPr/>
        </p:nvSpPr>
        <p:spPr>
          <a:xfrm>
            <a:off x="7096913" y="2604078"/>
            <a:ext cx="1676399" cy="2358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933" dirty="0">
                <a:solidFill>
                  <a:prstClr val="white">
                    <a:lumMod val="65000"/>
                  </a:prstClr>
                </a:solidFill>
                <a:cs typeface="Arial" panose="020B0604020202020204" pitchFamily="34" charset="0"/>
              </a:rPr>
              <a:t>Select Date</a:t>
            </a:r>
            <a:endParaRPr lang="en-PH" sz="933" dirty="0">
              <a:solidFill>
                <a:prstClr val="white">
                  <a:lumMod val="65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604001" y="2198099"/>
            <a:ext cx="1676399" cy="2358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933" dirty="0">
                <a:solidFill>
                  <a:prstClr val="white">
                    <a:lumMod val="65000"/>
                  </a:prstClr>
                </a:solidFill>
                <a:cs typeface="Arial" panose="020B0604020202020204" pitchFamily="34" charset="0"/>
              </a:rPr>
              <a:t>Enter your Name</a:t>
            </a:r>
            <a:endParaRPr lang="en-PH" sz="933" dirty="0">
              <a:solidFill>
                <a:prstClr val="white">
                  <a:lumMod val="65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334000" y="2959868"/>
            <a:ext cx="2032000" cy="2974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 Receipt Number:</a:t>
            </a:r>
            <a:endParaRPr lang="en-PH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16800" y="2959868"/>
            <a:ext cx="2798236" cy="26674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456748" y="2992738"/>
            <a:ext cx="1979754" cy="2358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933" dirty="0">
                <a:solidFill>
                  <a:prstClr val="white">
                    <a:lumMod val="65000"/>
                  </a:prstClr>
                </a:solidFill>
                <a:cs typeface="Arial" panose="020B0604020202020204" pitchFamily="34" charset="0"/>
              </a:rPr>
              <a:t>Enter the Official Receipt Number</a:t>
            </a:r>
            <a:endParaRPr lang="en-PH" sz="933" dirty="0">
              <a:solidFill>
                <a:prstClr val="white">
                  <a:lumMod val="65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334000" y="3943787"/>
            <a:ext cx="3885516" cy="379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67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Official Receipt Attachment</a:t>
            </a:r>
            <a:endParaRPr lang="en-PH" sz="1867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334000" y="3349924"/>
            <a:ext cx="863600" cy="297454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sz="1333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Amount:</a:t>
            </a:r>
            <a:endParaRPr lang="en-PH" sz="1333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248400" y="3349924"/>
            <a:ext cx="3966636" cy="266740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6299200" y="3382794"/>
            <a:ext cx="2806398" cy="23589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sz="933" dirty="0">
                <a:solidFill>
                  <a:prstClr val="white">
                    <a:lumMod val="65000"/>
                  </a:prstClr>
                </a:solidFill>
                <a:cs typeface="Arial" panose="020B0604020202020204" pitchFamily="34" charset="0"/>
              </a:rPr>
              <a:t>Enter Amount</a:t>
            </a:r>
            <a:endParaRPr lang="en-PH" sz="933" dirty="0">
              <a:solidFill>
                <a:prstClr val="white">
                  <a:lumMod val="65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334000" y="4305157"/>
            <a:ext cx="4881036" cy="1359043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ln w="38100">
                <a:solidFill>
                  <a:prstClr val="black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7177459" y="4868241"/>
            <a:ext cx="1194119" cy="2565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Choose File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1" name="Group 50"/>
          <p:cNvGrpSpPr/>
          <p:nvPr/>
        </p:nvGrpSpPr>
        <p:grpSpPr>
          <a:xfrm>
            <a:off x="6440302" y="6150055"/>
            <a:ext cx="2689279" cy="256545"/>
            <a:chOff x="9823111" y="9225094"/>
            <a:chExt cx="4033919" cy="384818"/>
          </a:xfrm>
        </p:grpSpPr>
        <p:sp>
          <p:nvSpPr>
            <p:cNvPr id="64" name="Rectangle 63"/>
            <p:cNvSpPr/>
            <p:nvPr/>
          </p:nvSpPr>
          <p:spPr>
            <a:xfrm>
              <a:off x="9823111" y="9225094"/>
              <a:ext cx="1791179" cy="384818"/>
            </a:xfrm>
            <a:prstGeom prst="rect">
              <a:avLst/>
            </a:prstGeom>
            <a:solidFill>
              <a:srgbClr val="6699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67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Submit</a:t>
              </a:r>
              <a:endParaRPr lang="en-PH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2065851" y="9225094"/>
              <a:ext cx="1791179" cy="38481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067" b="1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Cancel</a:t>
              </a:r>
              <a:endParaRPr lang="en-PH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4844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415134" y="177800"/>
            <a:ext cx="7361732" cy="1216805"/>
            <a:chOff x="4176570" y="266700"/>
            <a:chExt cx="11042598" cy="182520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95168" y="417304"/>
              <a:ext cx="1524000" cy="1524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6570" y="266700"/>
              <a:ext cx="1167013" cy="1825208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309987" y="1019463"/>
              <a:ext cx="8385182" cy="81551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PH" sz="2933" b="1" dirty="0">
                  <a:solidFill>
                    <a:srgbClr val="1F497D">
                      <a:lumMod val="50000"/>
                    </a:srgbClr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FINANCE SERVICE UNIT 18</a:t>
              </a:r>
              <a:endParaRPr lang="en-PH" sz="2933" b="1" dirty="0">
                <a:solidFill>
                  <a:srgbClr val="1F497D">
                    <a:lumMod val="50000"/>
                  </a:srgbClr>
                </a:solidFill>
                <a:latin typeface="Rockwell" panose="02060603020205020403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756649" y="656084"/>
              <a:ext cx="7491858" cy="56948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PH" sz="1867" spc="200" dirty="0">
                  <a:solidFill>
                    <a:prstClr val="black"/>
                  </a:solidFill>
                  <a:latin typeface="Rockwell" panose="02060603020205020403" pitchFamily="18" charset="0"/>
                  <a:cs typeface="Arial" panose="020B0604020202020204" pitchFamily="34" charset="0"/>
                </a:rPr>
                <a:t>Philippine National Police Academy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9853487" y="885071"/>
            <a:ext cx="1981302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PH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Optional </a:t>
            </a:r>
            <a:r>
              <a:rPr lang="en-PH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nalang</a:t>
            </a:r>
            <a:r>
              <a:rPr lang="en-PH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itong</a:t>
            </a:r>
            <a:r>
              <a:rPr lang="en-PH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part, if may </a:t>
            </a:r>
            <a:r>
              <a:rPr lang="en-PH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</a:t>
            </a:r>
            <a:r>
              <a:rPr lang="en-PH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gagamitan</a:t>
            </a:r>
            <a:r>
              <a:rPr lang="en-PH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PH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pasuyo</a:t>
            </a:r>
            <a:r>
              <a:rPr lang="en-PH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nalang</a:t>
            </a:r>
            <a:r>
              <a:rPr lang="en-PH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PH" sz="12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PH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PH" sz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635211" y="1231540"/>
            <a:ext cx="6661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 System</a:t>
            </a:r>
            <a:endParaRPr lang="en-PH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4990" y="1662426"/>
            <a:ext cx="202184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endParaRPr lang="en-PH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72974" y="1662427"/>
            <a:ext cx="2021840" cy="4622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703306" y="2311400"/>
            <a:ext cx="1361177" cy="2565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TRANSACTIONS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03306" y="2847524"/>
            <a:ext cx="1361177" cy="25654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067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REPORTS</a:t>
            </a:r>
            <a:endParaRPr lang="en-PH" sz="1067" b="1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4139" y="1679901"/>
            <a:ext cx="8386195" cy="457992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098800" y="2413000"/>
            <a:ext cx="7924800" cy="36720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101635" y="2413000"/>
            <a:ext cx="5791200" cy="35394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Generated Reports (Sorted view)</a:t>
            </a:r>
          </a:p>
          <a:p>
            <a:pPr algn="ctr"/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11" indent="-22861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Daily</a:t>
            </a:r>
          </a:p>
          <a:p>
            <a:pPr marL="228611" indent="-22861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Monthly</a:t>
            </a:r>
          </a:p>
          <a:p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**By date range (transaction based)</a:t>
            </a:r>
            <a:b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**from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26 – sept 25 </a:t>
            </a:r>
          </a:p>
          <a:p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11" indent="-228611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Generated report (print)</a:t>
            </a:r>
          </a:p>
          <a:p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Hardcopy sample** -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ito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yung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dina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nila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ibigay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satin kaka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alok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ng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merienda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potek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pero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follow up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bukas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</a:t>
            </a:r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Teacher </a:t>
            </a:r>
            <a:r>
              <a:rPr lang="en-US" sz="1600" dirty="0" err="1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Lyka</a:t>
            </a:r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by:</a:t>
            </a:r>
          </a:p>
          <a:p>
            <a:r>
              <a:rPr lang="en-US" sz="16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Stamp:</a:t>
            </a:r>
          </a:p>
        </p:txBody>
      </p:sp>
      <p:sp>
        <p:nvSpPr>
          <p:cNvPr id="4" name="Rectangle 3"/>
          <p:cNvSpPr/>
          <p:nvPr/>
        </p:nvSpPr>
        <p:spPr>
          <a:xfrm>
            <a:off x="9840424" y="1587568"/>
            <a:ext cx="1994365" cy="7618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PH" sz="12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8175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5681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8600"/>
            <a:ext cx="8788400" cy="638936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577179" y="3002526"/>
            <a:ext cx="2085135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1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in-insert </a:t>
            </a:r>
            <a:r>
              <a:rPr lang="en-US" sz="1100" b="1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</a:t>
            </a:r>
            <a:r>
              <a:rPr lang="en-US" sz="11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100" b="1" dirty="0" err="1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</a:t>
            </a:r>
            <a:r>
              <a:rPr lang="en-US" sz="1100" b="1" dirty="0" smtClean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incase need ng idea</a:t>
            </a:r>
            <a:endParaRPr lang="en-PH" sz="11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487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743</Words>
  <Application>Microsoft Office PowerPoint</Application>
  <PresentationFormat>Widescreen</PresentationFormat>
  <Paragraphs>223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19</vt:i4>
      </vt:variant>
    </vt:vector>
  </HeadingPairs>
  <TitlesOfParts>
    <vt:vector size="34" baseType="lpstr">
      <vt:lpstr>Arial</vt:lpstr>
      <vt:lpstr>Arial Narrow</vt:lpstr>
      <vt:lpstr>Arial Rounded MT Bold</vt:lpstr>
      <vt:lpstr>Calibri</vt:lpstr>
      <vt:lpstr>Calibri Light</vt:lpstr>
      <vt:lpstr>Rockwell</vt:lpstr>
      <vt:lpstr>Office Theme</vt:lpstr>
      <vt:lpstr>1_Office Theme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3</cp:revision>
  <dcterms:created xsi:type="dcterms:W3CDTF">2026-09-23T11:00:00Z</dcterms:created>
  <dcterms:modified xsi:type="dcterms:W3CDTF">2026-09-23T11:32:33Z</dcterms:modified>
</cp:coreProperties>
</file>